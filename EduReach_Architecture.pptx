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EduReach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Assistant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·  n8n Cloud  ·  Gemini 2.5 Flash  ·  MongoDB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EduReach Training 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course enquiry system for EduReach Training Academy. Students interact via a WhatsApp-style chat; AI extracts leads and routes them to an admin dashboard.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2615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 Student Interface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SPA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WhatsApp-style chat 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+ human message bubbles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89888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89888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417320"/>
            <a:ext cx="2615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Automation Backend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(extract + reply)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lead storage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&amp; upsert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89888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89888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17320"/>
            <a:ext cx="2615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Admin 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187452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Priority-sorted lead 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&amp; delete 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CRUD via webhooks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"/>
            <a:ext cx="1298448" cy="548640"/>
          </a:xfrm>
          <a:prstGeom prst="rect">
            <a:avLst/>
          </a:prstGeom>
          <a:solidFill>
            <a:srgbClr val="065A82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67665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99616" y="950976"/>
            <a:ext cx="73152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676656"/>
            <a:ext cx="7360920" cy="548640"/>
          </a:xfrm>
          <a:prstGeom prst="rect">
            <a:avLst/>
          </a:prstGeom>
          <a:solidFill>
            <a:srgbClr val="065A82">
              <a:alpha val="12000"/>
            </a:srgbClr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316736"/>
            <a:ext cx="1298448" cy="548640"/>
          </a:xfrm>
          <a:prstGeom prst="rect">
            <a:avLst/>
          </a:prstGeom>
          <a:solidFill>
            <a:srgbClr val="028090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1673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99616" y="1591056"/>
            <a:ext cx="73152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316736"/>
            <a:ext cx="7360920" cy="548640"/>
          </a:xfrm>
          <a:prstGeom prst="rect">
            <a:avLst/>
          </a:prstGeom>
          <a:solidFill>
            <a:srgbClr val="028090">
              <a:alpha val="12000"/>
            </a:srgbClr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56816"/>
            <a:ext cx="1298448" cy="548640"/>
          </a:xfrm>
          <a:prstGeom prst="rect">
            <a:avLst/>
          </a:prstGeom>
          <a:solidFill>
            <a:srgbClr val="036B74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5681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99616" y="2231136"/>
            <a:ext cx="73152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956816"/>
            <a:ext cx="7360920" cy="548640"/>
          </a:xfrm>
          <a:prstGeom prst="rect">
            <a:avLst/>
          </a:prstGeom>
          <a:solidFill>
            <a:srgbClr val="036B74">
              <a:alpha val="12000"/>
            </a:srgbClr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596896"/>
            <a:ext cx="1298448" cy="548640"/>
          </a:xfrm>
          <a:prstGeom prst="rect">
            <a:avLst/>
          </a:prstGeom>
          <a:solidFill>
            <a:srgbClr val="024F5A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59689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99616" y="2871216"/>
            <a:ext cx="73152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2596896"/>
            <a:ext cx="7360920" cy="548640"/>
          </a:xfrm>
          <a:prstGeom prst="rect">
            <a:avLst/>
          </a:prstGeom>
          <a:solidFill>
            <a:srgbClr val="024F5A">
              <a:alpha val="12000"/>
            </a:srgbClr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236976"/>
            <a:ext cx="1298448" cy="548640"/>
          </a:xfrm>
          <a:prstGeom prst="rect">
            <a:avLst/>
          </a:prstGeom>
          <a:solidFill>
            <a:srgbClr val="023040"/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23697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AI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Gemini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99616" y="3511296"/>
            <a:ext cx="73152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236976"/>
            <a:ext cx="7360920" cy="548640"/>
          </a:xfrm>
          <a:prstGeom prst="rect">
            <a:avLst/>
          </a:prstGeom>
          <a:solidFill>
            <a:srgbClr val="023040">
              <a:alpha val="12000"/>
            </a:srgbClr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0" y="72237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11680" y="722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Student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enquiry)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72237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722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13624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11680" y="1362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Chat.jsx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(WhatsApp UI)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3624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0" y="1362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Admin.jsx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(Lead Table)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2002536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02798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51760" y="20025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/api/webhook/*  →  n8n Cloud Instance URLs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64208" y="2642616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664208" y="26426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56432" y="2642616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56432" y="26426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Leads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48072" y="2642616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148072" y="26426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31152" y="2642616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31152" y="26426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Lead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64208" y="3282696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14F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664208" y="32826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(Extract)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87368" y="3282696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14F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087368" y="32826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collection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282696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14F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10528" y="32826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(Reply)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1168" y="3931920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All communication via HTTP Webhooks  (POST / GET / PATCH / DELETE)  —  no custom server required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8580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Router Root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entry point.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 → Chat page, /admin → Admin page.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27632"/>
            <a:ext cx="6400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Chat.jsx — Student Enquiry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WhatsApp-style messages, manages sessionId via localStorage, POSTs to /api/webhook/enquiry.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78024"/>
            <a:ext cx="6400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Admin.jsx — Lead Management 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leads (GET), sends status updates (PATCH), deletes leads (DELETE) using axios.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28416"/>
            <a:ext cx="64008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92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MessageBubble.jsx / LeadRow.jsx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Presentational components: chat bubbles, admin table rows with inline status dropdown.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— Proxy Config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VITE_N8N_BASE_URL from .env; rewrites /api/* to n8n Cloud webhook URLs at dev 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685800"/>
            <a:ext cx="4572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71323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1261872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1335024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3350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38928" y="13350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/api/webhook/enquiry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1609344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student message → get AI reply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0" y="2066544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2139696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38928" y="21396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/api/webhook/leads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241401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prioritized leads list (max 100)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2871216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34840" y="294436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29443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38928" y="2944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/api/webhook/lead-update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321868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 status by phone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7680" y="3675888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34840" y="3749040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7490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38928" y="37490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/api/webhook/lead-delete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34840" y="402336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lead by phone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Assistant — n8n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91440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20440" y="91440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66360" y="91440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2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FindDuplicate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91440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123444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5376" y="1188720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23444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11296" y="1188720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23444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7216" y="1188720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23444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188720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600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duplicate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71232" y="1554480"/>
            <a:ext cx="0" cy="5029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210312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237744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3256" y="2331720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10312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02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new lead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1232" y="1554480"/>
            <a:ext cx="0" cy="1234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2852928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28529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60920" y="3127248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3081528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2852928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02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18120" y="28529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1993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merge 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2359152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0271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28600" y="23591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74520" y="2359152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874520" y="23591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20440" y="2359152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20440" y="23591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66360" y="2359152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66360" y="23591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2660904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5376" y="2615184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660904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11296" y="2615184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0" y="2660904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57216" y="2615184"/>
            <a:ext cx="91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3493008"/>
            <a:ext cx="86868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576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Descriptions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85876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Incoming — Receives POST from React frontend with {message, sessionId}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 — Calls Gemini 2.5 Flash to extract name, phone, course, urgency, confidence, intent as JSON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— Normalises extracted fields, calculates priority_score (phone +30, course +20, urgency +15…)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FindDuplicate — Checks leads collection for matching phone number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Duplicate — Routes to upsert (existing lead) or insert (new lead) branch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Catalogue — Code node: maps course_interest to structured fee/duration/batch details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Reply — Calls Gemini 2.5 Flash with course data to generate a friendly human-readable reply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Webhook — Returns {reply} JSON to the React frontend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n8n Workflows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13232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6400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Leads Workflow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/webhook/leads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MongoDB Find (sort by priority_score desc, limit 100) → Respond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Admin.jsx on load and after refresh. Returns full lead array.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713232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13232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713232"/>
            <a:ext cx="6400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 Workflow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170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00600" y="1335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/webhook/lead-update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00600" y="1719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MongoDB UpdateOne (filter: phone, set: status, last_contacted_at) → Respond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121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66360" y="21214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admin status dropdown change. Uses phone as the update key.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51460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514600"/>
            <a:ext cx="64008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Lead Workflow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2971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2920" y="31363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/webhook/lead-delete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2920" y="3520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MongoDB DeleteOne (filter: phone) → Respond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3922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68680" y="39227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admin delete button. Permanently removes lead from collection.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5146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51460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514600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Assistant Workflow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2971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00600" y="31363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/webhook/enquiry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00600" y="3520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13-node workflow: Webhook → Gemini Extract → Parse → Mongo Duplicate Check → Upsert/Insert → Catalogue → Gemini Reply → Respond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3922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66360" y="39227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workflow. Full pipeline from student message to AI reply + lead persistence.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workflows expose n8n Webhook nodes — no custom server required. Credentials (MongoDB, Gemini) are stored inside n8n Credentials UI, never in code.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Model — MongoDB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76656"/>
            <a:ext cx="14630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6766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83080" y="676656"/>
            <a:ext cx="25603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37944" y="6766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Values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676656"/>
            <a:ext cx="42062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67665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969264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969264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969264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996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37944" y="996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98264" y="996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extracted from message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298448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1298448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298448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37944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(unique key)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98264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&amp; update key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627632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1627632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1627632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655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course_interest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37944" y="1655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98264" y="16550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course category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956816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1956816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1956816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37944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new_enquiry | follow_up | complaint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98264" y="1984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intent classification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2286000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2286000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2286000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37944" y="2313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98264" y="2313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AI-generated summary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615184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2615184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2615184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extraction_confidence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37944" y="2642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| medium | low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98264" y="2642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confidence score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2944368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2944368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43400" y="2944368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837944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(0–100)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98264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scoring: phone+30, course+20, urgency+15…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273552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83080" y="3273552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43400" y="3273552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raw_message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837944" y="3300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398264" y="3300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unmodified student message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3602736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83080" y="3602736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43400" y="3602736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837944" y="3630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| contacted | follow_up_due | manual_review | closed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398264" y="3630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workflow status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3931920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83080" y="3931920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43400" y="3931920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" y="3959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837944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98264" y="3959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creation timestamp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261104"/>
            <a:ext cx="1463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83080" y="4261104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43400" y="4261104"/>
            <a:ext cx="42062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4904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last_contacted_at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837944" y="4288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98264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 every upsert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0040" y="4590288"/>
            <a:ext cx="14630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83080" y="4590288"/>
            <a:ext cx="256032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4590288"/>
            <a:ext cx="4206240" cy="310896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" y="4617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interaction_count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837944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(default 1)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9826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incremented on each upsert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Logic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Parse_JSON node in the Enquiry workflow calculates a numeric priority_score (0–100) for each lead. Higher scores appear first in the admin dashboard.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8229600" cy="438912"/>
          </a:xfrm>
          <a:prstGeom prst="rect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provided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0" y="12618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438912"/>
          </a:xfrm>
          <a:prstGeom prst="rect">
            <a:avLst/>
          </a:prstGeom>
          <a:solidFill>
            <a:srgbClr val="028090">
              <a:alpha val="8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56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interest detected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18379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59152"/>
            <a:ext cx="4114800" cy="438912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32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flag (high)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55280" y="24140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35224"/>
            <a:ext cx="4114800" cy="438912"/>
          </a:xfrm>
          <a:prstGeom prst="rect">
            <a:avLst/>
          </a:prstGeom>
          <a:solidFill>
            <a:srgbClr val="027182">
              <a:alpha val="82000"/>
            </a:srgbClr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08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extraction confidence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29900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11296"/>
            <a:ext cx="2743200" cy="438912"/>
          </a:xfrm>
          <a:prstGeom prst="rect">
            <a:avLst/>
          </a:prstGeom>
          <a:solidFill>
            <a:srgbClr val="024F5A">
              <a:alpha val="82000"/>
            </a:srgbClr>
          </a:solidFill>
          <a:ln w="12700">
            <a:solidFill>
              <a:srgbClr val="024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84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new enquiry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3566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87368"/>
            <a:ext cx="8229600" cy="438912"/>
          </a:xfrm>
          <a:prstGeom prst="rect">
            <a:avLst/>
          </a:prstGeom>
          <a:solidFill>
            <a:srgbClr val="ED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87368"/>
            <a:ext cx="2743200" cy="438912"/>
          </a:xfrm>
          <a:prstGeom prst="rect">
            <a:avLst/>
          </a:prstGeom>
          <a:solidFill>
            <a:srgbClr val="023040">
              <a:alpha val="82000"/>
            </a:srgbClr>
          </a:solidFill>
          <a:ln w="12700">
            <a:solidFill>
              <a:srgbClr val="02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extracted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0" y="41422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81728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possible score: 100 pts  ·  Score is persisted in MongoDB and used to sort leads in the admin panel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94944"/>
            <a:ext cx="278892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94944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13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170432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70432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225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9496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 — functional components + hooks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" y="2011680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01168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066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2322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+ dev proxy for /api/* rewriting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" y="2852928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852928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" y="31638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for all webhook calls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" y="3694176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694176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37490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Component-scoped styling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64408" y="694944"/>
            <a:ext cx="278892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694944"/>
            <a:ext cx="2788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713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74136" y="1170432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1170432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1225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83864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workflow automation runtime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74136" y="2011680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4136" y="2011680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2066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83864" y="2322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field extraction + reply generation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74136" y="2852928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2852928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3864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83864" y="31638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persistence — leads collection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74136" y="3694176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74136" y="3694176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37490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83864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trigger for all frontend→n8n calls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08776" y="694944"/>
            <a:ext cx="278892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08776" y="694944"/>
            <a:ext cx="2788920" cy="384048"/>
          </a:xfrm>
          <a:prstGeom prst="rect">
            <a:avLst/>
          </a:prstGeom>
          <a:solidFill>
            <a:srgbClr val="027182"/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0216" y="713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Config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18504" y="1170432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8504" y="1170432"/>
            <a:ext cx="54864" cy="713232"/>
          </a:xfrm>
          <a:prstGeom prst="rect">
            <a:avLst/>
          </a:prstGeom>
          <a:solidFill>
            <a:srgbClr val="027182"/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1225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28232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VITE_N8N_BASE_URL — never committed to Git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18504" y="2011680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18504" y="2011680"/>
            <a:ext cx="54864" cy="713232"/>
          </a:xfrm>
          <a:prstGeom prst="rect">
            <a:avLst/>
          </a:prstGeom>
          <a:solidFill>
            <a:srgbClr val="027182"/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2066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Credentials UI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28232" y="2322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 + MongoDB connection string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18504" y="2852928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8504" y="2852928"/>
            <a:ext cx="54864" cy="713232"/>
          </a:xfrm>
          <a:prstGeom prst="rect">
            <a:avLst/>
          </a:prstGeom>
          <a:solidFill>
            <a:srgbClr val="027182"/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28232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(optional)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28232" y="31638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deployed via Hugging Face Spaces SDK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18504" y="3694176"/>
            <a:ext cx="2569464" cy="713232"/>
          </a:xfrm>
          <a:prstGeom prst="rect">
            <a:avLst/>
          </a:prstGeom>
          <a:solidFill>
            <a:srgbClr val="F8FC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18504" y="3694176"/>
            <a:ext cx="54864" cy="713232"/>
          </a:xfrm>
          <a:prstGeom prst="rect">
            <a:avLst/>
          </a:prstGeom>
          <a:solidFill>
            <a:srgbClr val="027182"/>
          </a:solidFill>
          <a:ln w="12700">
            <a:solidFill>
              <a:srgbClr val="0271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37490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2823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built for education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94944"/>
            <a:ext cx="484632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94944"/>
            <a:ext cx="48463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13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15214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→ enquiry-frontend/.env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VITE_N8N_BASE_URL to your n8n Cloud instance URL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190195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&amp;&amp; npm run dev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starts at localhost:5173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" y="26517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4 workflow templates from n8n-Workflows/json-templates/ into n8n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" y="34015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Gemini API key &amp; MongoDB connection string inside n8n Credentials UI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8795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" y="415137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all 4 workflows in n8n — app is now fully functional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694944"/>
            <a:ext cx="347472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694944"/>
            <a:ext cx="34747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1152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VITE_N8N_BASE_URL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1316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.env — n8n Cloud base URL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1554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0" y="1719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inside n8n Credentials UI 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0" y="1956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MONGODB_CONN_STR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inside n8n Credentials UI only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49240" y="2907792"/>
            <a:ext cx="347472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9240" y="2907792"/>
            <a:ext cx="34747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926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Routes (vite.config.js)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/api/webhook/enquiry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/api/webhook/leads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/api/webhook/lead-update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/api/webhook/lead-delete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SPA — WhatsApp chat + admin dashboard, no backend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— 4 webhook-triggered automation workflows, zero infrastructure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dual-purpose: structured extraction + conversational reply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single leads collection with upsert-on-duplicate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— algorithmic ranking ensures hottest leads surface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100% managed via .env + n8n Credentials UI, nothing in Git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EduReach AI Enquiry Assistant  ·  Architecture &amp; Workflow Document  · 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EduReach AI Enquiry Assistant — Architecture &amp; Workflow</dc:title>
  <dc:subject>PptxGenJS Presentation</dc:subject>
  <dc:creator>Faais</dc:creator>
  <cp:lastModifiedBy>Faais</cp:lastModifiedBy>
  <cp:revision>1</cp:revision>
  <dcterms:created xsi:type="dcterms:W3CDTF">2026-05-04T07:16:34Z</dcterms:created>
  <dcterms:modified xsi:type="dcterms:W3CDTF">2026-05-04T07:16:34Z</dcterms:modified>
</cp:coreProperties>
</file>